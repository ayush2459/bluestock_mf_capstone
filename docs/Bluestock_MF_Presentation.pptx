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3A5F"/>
                </a:solidFill>
                <a:latin typeface="Arial"/>
              </a:rPr>
              <a:t>Average CAGR % by Fund Category (3-Year)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CAGR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Small Cap</c:v>
                  </c:pt>
                  <c:pt idx="1">
                    <c:v>Mid Cap</c:v>
                  </c:pt>
                  <c:pt idx="2">
                    <c:v>ELSS</c:v>
                  </c:pt>
                  <c:pt idx="3">
                    <c:v>Flexi Cap</c:v>
                  </c:pt>
                  <c:pt idx="4">
                    <c:v>Large 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28.4</c:v>
                </c:pt>
                <c:pt idx="1">
                  <c:v>23.8</c:v>
                </c:pt>
                <c:pt idx="2">
                  <c:v>20.3</c:v>
                </c:pt>
                <c:pt idx="3">
                  <c:v>19.2</c:v>
                </c:pt>
                <c:pt idx="4">
                  <c:v>15.7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3A5F"/>
                </a:solidFill>
                <a:latin typeface="Arial"/>
              </a:rPr>
              <a:t>Average Sector Allocation (All 40 Funds)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bubble3D val="0"/>
            <c:spPr>
              <a:solidFill>
                <a:srgbClr val="059669"/>
              </a:solidFill>
              <a:effectLst/>
            </c:spPr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Financial Svcs</c:v>
                </c:pt>
                <c:pt idx="1">
                  <c:v>IT</c:v>
                </c:pt>
                <c:pt idx="2">
                  <c:v>Healthcare</c:v>
                </c:pt>
                <c:pt idx="3">
                  <c:v>Consumer</c:v>
                </c:pt>
                <c:pt idx="4">
                  <c:v>Auto</c:v>
                </c:pt>
                <c:pt idx="5">
                  <c:v>Energy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31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3A5F"/>
                </a:solidFill>
                <a:latin typeface="Arial"/>
              </a:rPr>
              <a:t>Sharpe (×10) vs Max Drawdown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(×10)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</c:v>
                  </c:pt>
                  <c:pt idx="1">
                    <c:v>MC</c:v>
                  </c:pt>
                  <c:pt idx="2">
                    <c:v>FC</c:v>
                  </c:pt>
                  <c:pt idx="3">
                    <c:v>LC</c:v>
                  </c:pt>
                  <c:pt idx="4">
                    <c:v>ELSS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</c:v>
                </c:pt>
                <c:pt idx="1">
                  <c:v>8.3</c:v>
                </c:pt>
                <c:pt idx="2">
                  <c:v>10.1</c:v>
                </c:pt>
                <c:pt idx="3">
                  <c:v>9.4</c:v>
                </c:pt>
                <c:pt idx="4">
                  <c:v>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 DD (abs%)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</c:v>
                  </c:pt>
                  <c:pt idx="1">
                    <c:v>MC</c:v>
                  </c:pt>
                  <c:pt idx="2">
                    <c:v>FC</c:v>
                  </c:pt>
                  <c:pt idx="3">
                    <c:v>LC</c:v>
                  </c:pt>
                  <c:pt idx="4">
                    <c:v>ELSS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33.2</c:v>
                </c:pt>
                <c:pt idx="1">
                  <c:v>27.6</c:v>
                </c:pt>
                <c:pt idx="2">
                  <c:v>21.5</c:v>
                </c:pt>
                <c:pt idx="3">
                  <c:v>18.5</c:v>
                </c:pt>
                <c:pt idx="4">
                  <c:v>24.1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 SC (Direct)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Jan-21</c:v>
                  </c:pt>
                  <c:pt idx="1">
                    <c:v>Jan-22</c:v>
                  </c:pt>
                  <c:pt idx="2">
                    <c:v>Jan-23</c:v>
                  </c:pt>
                  <c:pt idx="3">
                    <c:v>Jan-24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142</c:v>
                </c:pt>
                <c:pt idx="2">
                  <c:v>178</c:v>
                </c:pt>
                <c:pt idx="3">
                  <c:v>234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Nifty 100 TRI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Jan-21</c:v>
                  </c:pt>
                  <c:pt idx="1">
                    <c:v>Jan-22</c:v>
                  </c:pt>
                  <c:pt idx="2">
                    <c:v>Jan-23</c:v>
                  </c:pt>
                  <c:pt idx="3">
                    <c:v>Jan-24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118</c:v>
                </c:pt>
                <c:pt idx="2">
                  <c:v>130</c:v>
                </c:pt>
                <c:pt idx="3">
                  <c:v>148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34.7</c:v>
                </c:pt>
                <c:pt idx="1">
                  <c:v>22.1</c:v>
                </c:pt>
                <c:pt idx="2">
                  <c:v>21.4</c:v>
                </c:pt>
                <c:pt idx="3">
                  <c:v>18.3</c:v>
                </c:pt>
                <c:pt idx="4">
                  <c:v>17.8</c:v>
                </c:pt>
                <c:pt idx="5">
                  <c:v>31.2</c:v>
                </c:pt>
                <c:pt idx="6">
                  <c:v>20.1</c:v>
                </c:pt>
                <c:pt idx="7">
                  <c:v>24.6</c:v>
                </c:pt>
                <c:pt idx="8">
                  <c:v>16.9</c:v>
                </c:pt>
                <c:pt idx="9">
                  <c:v>18.7</c:v>
                </c:pt>
                <c:pt idx="10">
                  <c:v>24.1</c:v>
                </c:pt>
                <c:pt idx="11">
                  <c:v>23.5</c:v>
                </c:pt>
                <c:pt idx="12">
                  <c:v>22.8</c:v>
                </c:pt>
                <c:pt idx="13">
                  <c:v>16.4</c:v>
                </c:pt>
                <c:pt idx="14">
                  <c:v>22.1</c:v>
                </c:pt>
                <c:pt idx="15">
                  <c:v>21.9</c:v>
                </c:pt>
                <c:pt idx="16">
                  <c:v>29.4</c:v>
                </c:pt>
                <c:pt idx="17">
                  <c:v>28.1</c:v>
                </c:pt>
                <c:pt idx="18">
                  <c:v>27.6</c:v>
                </c:pt>
                <c:pt idx="19">
                  <c:v>21.2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1.42</c:v>
                </c:pt>
                <c:pt idx="1">
                  <c:v>1.31</c:v>
                </c:pt>
                <c:pt idx="2">
                  <c:v>1.24</c:v>
                </c:pt>
                <c:pt idx="3">
                  <c:v>1.18</c:v>
                </c:pt>
                <c:pt idx="4">
                  <c:v>1.15</c:v>
                </c:pt>
                <c:pt idx="5">
                  <c:v>1.09</c:v>
                </c:pt>
                <c:pt idx="6">
                  <c:v>1.07</c:v>
                </c:pt>
                <c:pt idx="7">
                  <c:v>1.04</c:v>
                </c:pt>
                <c:pt idx="8">
                  <c:v>1.02</c:v>
                </c:pt>
                <c:pt idx="9">
                  <c:v>0.98</c:v>
                </c:pt>
                <c:pt idx="10">
                  <c:v>0.96</c:v>
                </c:pt>
                <c:pt idx="11">
                  <c:v>0.94</c:v>
                </c:pt>
                <c:pt idx="12">
                  <c:v>0.93</c:v>
                </c:pt>
                <c:pt idx="13">
                  <c:v>0.92</c:v>
                </c:pt>
                <c:pt idx="14">
                  <c:v>0.91</c:v>
                </c:pt>
                <c:pt idx="15">
                  <c:v>0.89</c:v>
                </c:pt>
                <c:pt idx="16">
                  <c:v>0.88</c:v>
                </c:pt>
                <c:pt idx="17">
                  <c:v>0.86</c:v>
                </c:pt>
                <c:pt idx="18">
                  <c:v>0.84</c:v>
                </c:pt>
                <c:pt idx="19">
                  <c:v>0.83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Drawdown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Quant SC</c:v>
                  </c:pt>
                  <c:pt idx="1">
                    <c:v>PPFC</c:v>
                  </c:pt>
                  <c:pt idx="2">
                    <c:v>HDFC FC</c:v>
                  </c:pt>
                  <c:pt idx="3">
                    <c:v>Mirae LC</c:v>
                  </c:pt>
                  <c:pt idx="4">
                    <c:v>Axis BC</c:v>
                  </c:pt>
                  <c:pt idx="5">
                    <c:v>Nippon SC</c:v>
                  </c:pt>
                  <c:pt idx="6">
                    <c:v>Kotak FC</c:v>
                  </c:pt>
                  <c:pt idx="7">
                    <c:v>SBI C</c:v>
                  </c:pt>
                  <c:pt idx="8">
                    <c:v>CR BC</c:v>
                  </c:pt>
                  <c:pt idx="9">
                    <c:v>UTI FC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34.1</c:v>
                </c:pt>
                <c:pt idx="1">
                  <c:v>19.2</c:v>
                </c:pt>
                <c:pt idx="2">
                  <c:v>18.4</c:v>
                </c:pt>
                <c:pt idx="3">
                  <c:v>17.1</c:v>
                </c:pt>
                <c:pt idx="4">
                  <c:v>16.9</c:v>
                </c:pt>
                <c:pt idx="5">
                  <c:v>36.7</c:v>
                </c:pt>
                <c:pt idx="6">
                  <c:v>21.3</c:v>
                </c:pt>
                <c:pt idx="7">
                  <c:v>23.8</c:v>
                </c:pt>
                <c:pt idx="8">
                  <c:v>17.8</c:v>
                </c:pt>
                <c:pt idx="9">
                  <c:v>22.4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7680960" cy="3383280"/>
          </a:xfrm>
          <a:prstGeom prst="roundRect">
            <a:avLst>
              <a:gd name="adj" fmla="val 2162"/>
            </a:avLst>
          </a:prstGeom>
          <a:solidFill>
            <a:srgbClr val="1530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Platform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474720" y="2286000"/>
            <a:ext cx="2194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Capstone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of 40 Indian Equity Mutual Fund Schemes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 Delhi | GGSIPU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2027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76656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aggregates risk-adjusted performance for Indian MF schemes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rely on CAGR alone — missing risk context (MDD, VaR, Sharpe)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NAV tracking across 40+ fund portals is error-prone &amp; time-consuming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benchmark comparison against Nifty 100 TRI for active funds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26187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ETL pipeline for 40 equity fund NAV series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8 institutional-grade performance metrics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Nifty 100 TRI with Alpha/Beta analysis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Streamlit dashboard (5 pages)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composite weighted scorecard for fund ranking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reproducible, documented codebase on GitHub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× ~756 days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32304" y="822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432304" y="960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India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32304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HTTP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32304" y="1627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bulk file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~800K raw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90288" y="822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960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India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0288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0288" y="1627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TRI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series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48272" y="822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748272" y="960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AMFI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48272" y="13533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CSV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48272" y="1627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portfolio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(4 quarters)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154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36118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Schemes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719072" y="3063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19072" y="3154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~1.1M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19072" y="36118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63824" y="3063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63824" y="3154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MB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163824" y="36118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08576" y="3063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08576" y="3154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08576" y="36118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53328" y="3063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53328" y="3154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yrs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53328" y="36118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30632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0" y="3154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98080" y="36118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42519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Schema: funds | nav_data | performance_metrics | benchmark_returns | portfolio_holdings | validation_log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8961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2618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extract_nav.py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15544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 REST + AMFI 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(3×)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92224" y="137160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56816" y="8229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956816" y="8961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56816" y="12618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transform.py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56816" y="15544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forward-fill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calc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37160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30752" y="8229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30752" y="12618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730752" y="15544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metrics, 252-day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0096" y="137160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4688" y="8229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8961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12618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load_db.py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04688" y="15544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upsert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 enabled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14032" y="137160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78624" y="8229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7278624" y="8961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78624" y="12618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validate.py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278624" y="15544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quality checks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report output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443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run_pipeline.py --stage all    →    Exit 0 (38/40 funds pass all 12 checks)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554480" y="363931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36393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16352" y="363931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36393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078224" y="363931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8224" y="36393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40096" y="363931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0096" y="36393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601968" y="363931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36393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63840" y="363931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36393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5.x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</a:t>
            </a:r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38/40 funds pass all 12 checks. 2 funds (HDFC Small Cap, SBI Equity Hybrid) required 3-day NAV gap imputation (April 2023 AMFI reporting lag). Flagged in validation_log.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Return Distributions &amp; Categories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2296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12080" y="84124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28/40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72200" y="841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beat Nifty 100 TRI (CAGR)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72200" y="1078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outperform benchmark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120640" y="169164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17099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4.7×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72200" y="1709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Return Kurtosis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72200" y="19476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tails — use Sortino over Sharpe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120640" y="256032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12080" y="25786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7220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Intra-category correlation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2200" y="2816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limited diversification within cat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20640" y="34290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12080" y="34472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0.61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72200" y="34472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(SC vs LC)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36850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co-movement in stress periods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normality rejected for 94% of funds (p &lt; 0.01) — non-normal return distributions confirm fat tails are systematic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Sector Allocation &amp; Benchmark Comparison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 Fund Performance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11480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10058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Nifty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100 TRI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All Funds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Avg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663440" y="269748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54880" y="2715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Services (31%) + IT (17%) = 48% of avg allocation — mirrors Nifty 100 composition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63440" y="326440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32826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Healthcare-heavy funds (Mirae Emerging, HDFC Healthcare) showed lowest correlation during 2022 correction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63440" y="3831336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4880" y="384962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10 funds deliver +8.6pp excess CAGR over benchmark with +0.41 excess Sharpe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63440" y="4398264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44165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70% of funds beat Nifty 100 on CAGR; only 30% beat on risk-adjusted (Sharpe) basis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Top 10 Fund Scorecard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977640"/>
        </p:xfrm>
        <a:graphic>
          <a:graphicData uri="http://schemas.openxmlformats.org/drawingml/2006/table">
            <a:tbl>
              <a:tblPr/>
              <a:tblGrid>
                <a:gridCol w="411480"/>
                <a:gridCol w="1920240"/>
                <a:gridCol w="640080"/>
                <a:gridCol w="640080"/>
                <a:gridCol w="685800"/>
                <a:gridCol w="685800"/>
                <a:gridCol w="685800"/>
                <a:gridCol w="640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Small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 Parikh Flexi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Flexi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–18.4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–17.1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Bluechip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Small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–36.7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Contra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Canara Robeco Bluechip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–17.8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 Flexi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846320"/>
            <a:ext cx="8595360" cy="201168"/>
          </a:xfrm>
          <a:prstGeom prst="roundRect">
            <a:avLst>
              <a:gd name="adj" fmla="val 36364"/>
            </a:avLst>
          </a:prstGeom>
          <a:solidFill>
            <a:srgbClr val="FEF9C3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8554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weights: CAGR 25% | Sharpe 25% | Sortino 20% | Alpha 15% | Max Drawdown 10% | VaR 5%  — metrics normalised [0,1] before weighting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Risk-Return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50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(Rp – Rf) / σp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Avg: 0.87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450592" y="850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1188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(Rp – Rf) / σd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50592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Avg: 1.09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26864" y="777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850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Jensen's Alpha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26864" y="1188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 – CAPM pred.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26864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funds: α &gt;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03136" y="777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803136" y="850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03136" y="1188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Min(Pt/Ppeak – 1)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03136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Avg: –24.9%</a:t>
            </a:r>
            <a:endParaRPr lang="en-US" sz="1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2331720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035040" y="2331720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17220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72200" y="26334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 Parikh FC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1.68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3200400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172200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Alpha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72200" y="3502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Small Cap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 vs CAPM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35040" y="4069080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17220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MDD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72200" y="4370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–16.9% peak-trough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Overview &amp; Fund Leaderboard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CAGR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78608" y="9144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578608" y="987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78608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0016" y="9144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0016" y="987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–24.9%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0016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Max DD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21424" y="9144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821424" y="987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21424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Tracked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FUNDS LEADERBOARD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31343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3134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Small Cap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3134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16352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84378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4378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 Parikh FC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8437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46704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37413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37413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Flexi Cap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337413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77056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90448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90448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Large Cap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3904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92024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— Quant Small Cap vs Nifty 100 TRI</a:t>
            </a:r>
            <a:endParaRPr lang="en-US" sz="8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663440" y="224028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/>
          <p:nvPr/>
        </p:nvSpPr>
        <p:spPr>
          <a:xfrm>
            <a:off x="274320" y="50017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1.32 · Dark theme · Real-time SQLite connection · 5 interactive pages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Performance &amp; Risk Analysis Pages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vs SHARPE — All 40 Funds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43000"/>
          <a:ext cx="41148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77724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68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COMPARISON — Top 10 Funds</a:t>
            </a:r>
            <a:endParaRPr lang="en-US" sz="8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143000"/>
          <a:ext cx="42062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033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74320" y="37764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pages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74320" y="41330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Comparison, Metrics, Sector, Risk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450592" y="37033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450592" y="37764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450592" y="41330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connection, no export needed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26864" y="37033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626864" y="37764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26864" y="41330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Multi-select, date range, category filter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803136" y="37033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803136" y="37764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Cached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03136" y="41330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TTL=3600, &lt;200ms response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38912" cy="126187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0700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funds beat the benchmark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2527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of 40 funds outperformed Nifty 100 TRI (16.2%) on CAGR over 3 years; but only 30% beat on Sharpe ratio.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38912" cy="126187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0700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85232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risk-adjusted: Parag Parikh FC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85232" y="12527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1.68, Alpha +8.7%, Max Drawdown only –19.2%. Globally diversified mandate reduces downside.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438912" cy="126187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2432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313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alpha ≠ low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67004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Small Cap leads on CAGR (34.7%) &amp; Alpha (+12.3%) but carries –34.1% Max Drawdown — not suitable for all risk profiles.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438912" cy="126187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62432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85232" y="2313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Caps offer best risk efficiency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67004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Sharpe of 0.94 vs 0.88 for Small Caps despite ~13pp lower CAGR — efficiency wins in volatile markets.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438912" cy="1261872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04164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3730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is systemic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0873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+ IT = 48% of avg allocation. Funds with Healthcare &gt; 12% showed superior 2022 correction resilience.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57600"/>
            <a:ext cx="438912" cy="126187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04164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3730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prevents CAGR-only bias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40873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rank reorders top 10 significantly vs pure CAGR rank — capturing risk-adjusted value for investors.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57200"/>
            <a:ext cx="7680960" cy="2377440"/>
          </a:xfrm>
          <a:prstGeom prst="roundRect">
            <a:avLst>
              <a:gd name="adj" fmla="val 3077"/>
            </a:avLst>
          </a:prstGeom>
          <a:solidFill>
            <a:srgbClr val="1530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943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194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Mutual Fund Analytics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github.com/ayush2459/bluestock_mf_capstone  ·  Tag: v1.0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97280" y="306324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36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Analysed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06324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136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136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Beat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TRI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Ayush  ·  MAIT Delhi, GGSIPU  ·  B.Tech CSE 2027  ·  June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Platform</dc:title>
  <dc:subject>PptxGenJS Presentation</dc:subject>
  <dc:creator>Ayush | MAIT Delhi</dc:creator>
  <cp:lastModifiedBy>Ayush | MAIT Delhi</cp:lastModifiedBy>
  <cp:revision>1</cp:revision>
  <dcterms:created xsi:type="dcterms:W3CDTF">2026-06-11T11:18:49Z</dcterms:created>
  <dcterms:modified xsi:type="dcterms:W3CDTF">2026-06-11T11:18:49Z</dcterms:modified>
</cp:coreProperties>
</file>