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196F3"/>
                </a:solidFill>
              </a:rPr>
              <a:t>BLUESTOCK FINTECH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End-to-End Data Engineering · ETL Pipeline · Interactive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94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DEFB"/>
                </a:solidFill>
              </a:rPr>
              <a:t>Individual Capstone Project  |  June 2026  |  Bluestock Fintech Intern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Rs.81L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</a:rPr>
              <a:t>AUM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6576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Rs.31K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</a:rPr>
              <a:t>SIP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26.12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</a:rPr>
              <a:t>Folios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657600"/>
            <a:ext cx="22860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40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</a:rPr>
              <a:t>Schemes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Why Bluestock Fintech needs this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577840" cy="96012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0000"/>
                </a:solidFill>
              </a:rPr>
              <a:t>❌  Data Fragmentation: NAV, AUM, SIP data scattered across AMFI, BSE, NSE portals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577840" cy="9601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00"/>
                </a:solidFill>
              </a:rPr>
              <a:t>✅  Unified SQLite DB with 8-table star schema → single source of truth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06040"/>
            <a:ext cx="5577840" cy="96012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0000"/>
                </a:solidFill>
              </a:rPr>
              <a:t>❌  No Risk-Adjusted Comparison: Investors can't compare Sharpe, Alpha, Beta across AMCs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06040"/>
            <a:ext cx="5577840" cy="9601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00"/>
                </a:solidFill>
              </a:rPr>
              <a:t>✅  Computed Sharpe, Sortino, Alpha, Beta, VaR for all 40 schemes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577840" cy="96012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94759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0000"/>
                </a:solidFill>
              </a:rPr>
              <a:t>❌  No Benchmark Tracking: Retail investors unaware of fund alpha vs Nifty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577840" cy="9601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59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00"/>
                </a:solidFill>
              </a:rPr>
              <a:t>✅  OLS regression → rolling alpha &amp; tracking error vs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92040"/>
            <a:ext cx="5577840" cy="96012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937759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0000"/>
                </a:solidFill>
              </a:rPr>
              <a:t>❌  Slow Reporting: Static PDF reports take days; no drill-down capability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892040"/>
            <a:ext cx="5577840" cy="9601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59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3300"/>
                </a:solidFill>
              </a:rPr>
              <a:t>✅  Live Streamlit dashboard + automated HTML email report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10 datasets · 120K+ rows · 5-layer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4884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1488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AMFI API · mfapi.in · NSE Bhavcopy · Provided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463040"/>
            <a:ext cx="214884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011680"/>
            <a:ext cx="21488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2057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Pandas cleaning · ffill holidays · Derive returns/metrics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14884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011680"/>
            <a:ext cx="21488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057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SQLite 8-table star schema · CSV flat-file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463040"/>
            <a:ext cx="2148840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2011680"/>
            <a:ext cx="21488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057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Jupyter Notebooks · Sharpe/VaR/Monte Carlo/EF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463040"/>
            <a:ext cx="2148840" cy="5029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VISUALISE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011680"/>
            <a:ext cx="214884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057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Streamlit · Power BI · HTML Email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474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10 Datasets | 120K+ Rows | 8 DB Tables | 40 Schemes | 10 AMCs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02336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01 Fund Master (40 schemes)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708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02 NAV History (42K rows)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71830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03 AUM by Fund 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06577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04 Monthly SIP Inflows (AMFI real)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41324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05 Category Inflows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02336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06 Folio Count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3708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07 Scheme Performance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1830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08 Investor Transactions (63K)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06577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09 Portfolio Holdings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41324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5F"/>
                </a:solidFill>
              </a:rPr>
              <a:t>• 10 Benchmark Indices (6.9K rows)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D1 — ETL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etl_pipeline.py · load_from_local.py · live_nav_fetch.py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🔄 Automated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Fetches live NAV from mfapi.in REST API with retry logic (3 attempts + exponential backoff)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🧹 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19202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Forward-fill NAV for weekends/holidays; validates NAV &gt; 0; removes duplicates; parses 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17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📊 Derived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Daily returns, 52-week high/low, 30-day rolling volatility computed during transform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97180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3017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🗄️ DB 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34290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Bulk UPSERT to SQLite via executemany(); WAL journal mode for concurrent reads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📅 Cron Job (B1)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live_nav_fetch.py runs at 8 PM weekdays: 0 20 * * 1-5 python live_nav_fetch.py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480560"/>
            <a:ext cx="5760720" cy="13716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526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📝 Audit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9377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etl_runs table logs every pipeline execution with timestamp, rows loaded,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D3 — EDA Highlights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NAV Trends · SIP Milestone · AUM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</a:rPr>
              <a:t>▸  SIP inflows grew 182%: Rs.11,000 Cr → Rs.31,002 Cr (Dec 2025 all-time high)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SBI MF leads with Rs.12.5L Cr AUM; ICICI Pru Rs.10.74L Cr; HDFC Rs.9.30L Cr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Small Cap funds delivered highest 3yr CAGR (18-22%) with proportional risk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Nifty 50 benchmarks grew 85-95% over 4.5 years (2022–2026)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Large Cap funds: 0.85+ pairwise correlation → limited diversification benefit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10 charts generated: NAV trend, AUM growth, SIP trend, category heatmap, correlations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D3 — EDA Highlights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Demographics · Geography · Folio Growth · Holdings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3A5F"/>
                </a:solidFill>
              </a:rPr>
              <a:t>▸  Age 26-35 dominates: 35% of investors, highest total SIP investment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T30 cities: 68% of SIP volume; B30 share growing via UPI adoption (28% → 32%)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Total folios doubled in 4 years: 13.26 Cr (Jan 2022) → 26.12 Cr (Dec 2025)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Financials sector: 25-30% weight in most equity fund portfolios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ELSS category shows consistent inflows despite market corrections (80C tax benefit)</a:t>
            </a:r>
          </a:p>
          <a:p>
            <a:pPr algn="l"/>
            <a:r>
              <a:rPr sz="1400">
                <a:solidFill>
                  <a:srgbClr val="1E3A5F"/>
                </a:solidFill>
              </a:rPr>
              <a:t>▸  Liquid fund NAV growth: ~6.5% p.a. with near-zero drawdown — ideal for parking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D4 — Fund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CAGR · Sharpe · Sortino · Alpha · Beta · Max Drawdown · 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(NAV_end/NAV_start)^(252/n_days) –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252 trading days, not 365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18745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(Rp – 6.5%/252) / σ × √252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1762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Rf = RBI repo rate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78608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24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Sortino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900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(Rp – Rf) × 252 / (σ_down × √252)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Only penalises negative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578608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2624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Alpha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299008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OLS intercept × 252 (annualised)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3291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vs Nifty 100 daily returns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94176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398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Beta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056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OLS slope of fund on 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074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β&gt;1 = more volatile than market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694176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799" y="37398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41056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min(NAV/cummax – 1) ×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9" y="44074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Peak-to-trough decline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9744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554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VaR 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2212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5th percentile of daily returns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229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Daily loss exceeded 5% of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4809744"/>
            <a:ext cx="5760720" cy="1024128"/>
          </a:xfrm>
          <a:prstGeom prst="rect">
            <a:avLst/>
          </a:prstGeom>
          <a:solidFill>
            <a:srgbClr val="F5F5F5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48554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CVaR 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52212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5E20"/>
                </a:solidFill>
              </a:rPr>
              <a:t>Mean(returns below VaR)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799" y="552297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</a:rPr>
              <a:t>Note: Expected Shortfall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D4 — Fund Scorecard &amp; Risk-Return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Composite score: 30% 3yr CAGR + 25% Sharpe + 20% Alpha + 15% MDD + 10% Expense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3A5F"/>
                </a:solidFill>
              </a:rPr>
              <a:t>Composite Score = Weighted Percentile Rank across 5 risk-return dimensions (0–100)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3A5F"/>
                </a:solidFill>
              </a:rPr>
              <a:t>▸  Score 80+: Elite funds — strong alpha, low drawdown, competitive expense ratio</a:t>
            </a:r>
          </a:p>
          <a:p>
            <a:pPr algn="l"/>
            <a:r>
              <a:rPr sz="1300">
                <a:solidFill>
                  <a:srgbClr val="1E3A5F"/>
                </a:solidFill>
              </a:rPr>
              <a:t>▸  Score 60-79: Good performers — above-benchmark returns with manageable risk</a:t>
            </a:r>
          </a:p>
          <a:p>
            <a:pPr algn="l"/>
            <a:r>
              <a:rPr sz="1300">
                <a:solidFill>
                  <a:srgbClr val="1E3A5F"/>
                </a:solidFill>
              </a:rPr>
              <a:t>▸  Score 40-59: Average — market-rate returns, consider index fund alternatives</a:t>
            </a:r>
          </a:p>
          <a:p>
            <a:pPr algn="l"/>
            <a:r>
              <a:rPr sz="1300">
                <a:solidFill>
                  <a:srgbClr val="1E3A5F"/>
                </a:solidFill>
              </a:rPr>
              <a:t>▸  Score &lt;40: Under-performers — review against benchmark; high cost or high drawdown</a:t>
            </a:r>
          </a:p>
          <a:p>
            <a:pPr algn="l"/>
            <a:r>
              <a:rPr sz="1300">
                <a:solidFill>
                  <a:srgbClr val="1E3A5F"/>
                </a:solidFill>
              </a:rPr>
              <a:t>▸  Max Sharpe portfolio (Efficient Frontier): 35% Flexi Cap + 30% Mid Cap + 20% Large Cap + 15% Small Cap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03520"/>
            <a:ext cx="530352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2180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</a:rPr>
              <a:t>✅ All CSVs saved to data/processed/:
cagr_report · sharpe_sortino · alpha_beta · max_drawdown · var_cvar_report · fund_scorecard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5303520"/>
            <a:ext cx="557784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32180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3A5F"/>
                </a:solidFill>
              </a:rPr>
              <a:t>📊 Dashboard Page 2 shows interactive Risk vs Return scatter
with fund house colour coding and AUM bubble sizing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D5 — Streamlit Interactive Dashboard (B2)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4 pages · Slicers · KPI cards · Interactive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760720" cy="210312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🏠 Industry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KPI cards: AUM Rs.81L Cr, SIP Rs.31K Cr, Folios 26.12 Cr
SIP area chart | AUM bar chart | Folio area chart
Slicers: Fund House, Category, Date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760720" cy="210312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5361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📈 Fund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1965960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Fund Scorecard table (sortable)
Risk vs Return scatter (Plotly)
NAV multi-fund comparison line chart
Slicers: Fund House, Category,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760720" cy="210312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221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👥 Investor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59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SIP by State horizontal bar
Transaction type donut (SIP/Lumpsum/Redemption)
Age group bar chart
Slicers: State, Age Group, City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749039"/>
            <a:ext cx="5760720" cy="210312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38221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📊 SIP &amp;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251959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</a:rPr>
              <a:t>SIP + Active Accounts dual-axis
Category inflows heatmap
Benchmark index comparison line
Slicers: Index selection, 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D6 — Advanced Analytics &amp; Bonus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VaR · Cohort · Monte Carlo · Efficient Frontier · Email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760720" cy="201168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148C"/>
                </a:solidFill>
              </a:rPr>
              <a:t>📉 VaR &amp; CVaR (D6)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Historical simulation at 95% CI
• Small Cap VaR daily: ~1.8–2.5%
• Large Cap VaR daily: ~0.85–1.2%
• CVaR ≈ 1.8× VaR on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760720" cy="201168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5361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148C"/>
                </a:solidFill>
              </a:rPr>
              <a:t>🎲 Monte Carlo (B3)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196596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500-path NAV projection 5 years
• Median growth: 85-120%
• 90% CI: 45% to 180%
• Log-normal return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57600"/>
            <a:ext cx="5760720" cy="201168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307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148C"/>
                </a:solidFill>
              </a:rPr>
              <a:t>📊 Efficient Frontier (B4)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Markowitz optimisation (5 funds)
• Max Sharpe: 35% Flexi + 30% Mid
• Min Volatility: 40% Large Cap
• SLSQP constrained optimisation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657600"/>
            <a:ext cx="5760720" cy="201168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373075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148C"/>
                </a:solidFill>
              </a:rPr>
              <a:t>👥 Cohort Analysis (D6)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16052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By first investment year
• 2022 cohort: Rs.4,200 avg SIP
• 18% at-risk (gap &gt;35 days)
• 2024 cohort: Rs.2,800 avg SIP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</a:rPr>
              <a:t>Data-driven insights for Bluestock Fintech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DEFB"/>
                </a:solidFill>
              </a:rPr>
              <a:t>Bluestock Fintech Pvt. Ltd.  |  Mutual Fund Analytics Platform  |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📊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1B5E20"/>
                </a:solidFill>
              </a:rPr>
              <a:t>▸  SIP inflows tripled 2022-2025; Monthly ATH Rs.31,002 Cr confirms retail adoption</a:t>
            </a:r>
          </a:p>
          <a:p>
            <a:pPr algn="l"/>
            <a:r>
              <a:rPr sz="1050">
                <a:solidFill>
                  <a:srgbClr val="1B5E20"/>
                </a:solidFill>
              </a:rPr>
              <a:t>▸  SBI MF dominates at Rs.12.5L Cr; Top 3 AMCs control 40% of industry AUM</a:t>
            </a:r>
          </a:p>
          <a:p>
            <a:pPr algn="l"/>
            <a:r>
              <a:rPr sz="1050">
                <a:solidFill>
                  <a:srgbClr val="1B5E20"/>
                </a:solidFill>
              </a:rPr>
              <a:t>▸  Small Cap alpha is real but volatile: 18-22% CAGR vs 12-14% Large Cap (3yr)</a:t>
            </a:r>
          </a:p>
          <a:p>
            <a:pPr algn="l"/>
            <a:r>
              <a:rPr sz="1050">
                <a:solidFill>
                  <a:srgbClr val="1B5E20"/>
                </a:solidFill>
              </a:rPr>
              <a:t>▸  Index funds (0.10-0.17% expense) match active Large Cap returns after cost</a:t>
            </a:r>
          </a:p>
          <a:p>
            <a:pPr algn="l"/>
            <a:r>
              <a:rPr sz="1050">
                <a:solidFill>
                  <a:srgbClr val="1B5E20"/>
                </a:solidFill>
              </a:rPr>
              <a:t>▸  18% at-risk SIP investors: gap &gt;35 days → Rs.120 Cr recovery opportunity</a:t>
            </a:r>
          </a:p>
          <a:p>
            <a:pPr algn="l"/>
            <a:r>
              <a:rPr sz="1050">
                <a:solidFill>
                  <a:srgbClr val="1B5E20"/>
                </a:solidFill>
              </a:rPr>
              <a:t>▸  B30 SIP growing at 15% YoY vs 9% T30 — prioritise B30 digital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4389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💡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1E3A5F"/>
                </a:solidFill>
              </a:rPr>
              <a:t>▸  Deploy cron job ETL for real-time NAV updates (already implemented: B1)</a:t>
            </a:r>
          </a:p>
          <a:p>
            <a:pPr algn="l"/>
            <a:r>
              <a:rPr sz="1050">
                <a:solidFill>
                  <a:srgbClr val="1E3A5F"/>
                </a:solidFill>
              </a:rPr>
              <a:t>▸  Automate weekly HTML email to stakeholders (email_report.py: B5)</a:t>
            </a:r>
          </a:p>
          <a:p>
            <a:pPr algn="l"/>
            <a:r>
              <a:rPr sz="1050">
                <a:solidFill>
                  <a:srgbClr val="1E3A5F"/>
                </a:solidFill>
              </a:rPr>
              <a:t>▸  Create Rs.100-500 micro-SIP products for 18-25 fintech-native segment</a:t>
            </a:r>
          </a:p>
          <a:p>
            <a:pPr algn="l"/>
            <a:r>
              <a:rPr sz="1050">
                <a:solidFill>
                  <a:srgbClr val="1E3A5F"/>
                </a:solidFill>
              </a:rPr>
              <a:t>▸  Flag high-HHI funds (sector concentration &gt;0.18) in dashboard with warning</a:t>
            </a:r>
          </a:p>
          <a:p>
            <a:pPr algn="l"/>
            <a:r>
              <a:rPr sz="1050">
                <a:solidFill>
                  <a:srgbClr val="1E3A5F"/>
                </a:solidFill>
              </a:rPr>
              <a:t>▸  Use Efficient Frontier weights as template for Bluestock model portfolio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96F3"/>
                </a:solidFill>
              </a:rPr>
              <a:t>Bluestock Fintech Mutual Fund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</a:rPr>
              <a:t>Questions? | github.com/[your-username]/bluestock_mf_capstone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✅ D1 ETL Pipeline  |  ✅ D2 SQLite DB  |  ✅ D3 EDA Notebook (15 charts)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434840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✅ D4 Performance Metrics  |  ✅ D5 Dashboard (4 pages)  |  ✅ D6 Advanced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889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✅ D7 Report + Slides  |  ✅ B1 Cron Job  |  ✅ B2 Streamlit  |  ✅ B3 Monte Carlo  |  ✅ B4 EF  |  ✅ B5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</a:rPr>
              <a:t>© 2026 Bluestock Fintech Pvt. Ltd.  |  For educational purposes only  |  Data: AMFI India (Public)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